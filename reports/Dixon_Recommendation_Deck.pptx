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7b73bf46254441" /><Relationship Type="http://schemas.openxmlformats.org/officeDocument/2006/relationships/extended-properties" Target="/docProps/app.xml" Id="R3afbc20fbf054e33" /><Relationship Type="http://schemas.openxmlformats.org/officeDocument/2006/relationships/officeDocument" Target="/ppt/presentation.xml" Id="R0a45c0d51ae64f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17789d23554079"/>
  </p:sldMasterIdLst>
  <p:notesMasterIdLst>
    <p:notesMasterId xmlns:r="http://schemas.openxmlformats.org/officeDocument/2006/relationships" r:id="Ra9d90b67a16543c9"/>
  </p:notesMasterIdLst>
  <p:sldIdLst>
    <p:sldId xmlns:r="http://schemas.openxmlformats.org/officeDocument/2006/relationships" id="256" r:id="R55cfd68e9f3c4062"/>
    <p:sldId xmlns:r="http://schemas.openxmlformats.org/officeDocument/2006/relationships" id="257" r:id="R318fb7528fb24b1b"/>
    <p:sldId xmlns:r="http://schemas.openxmlformats.org/officeDocument/2006/relationships" id="258" r:id="Rbad8b78857b843a1"/>
    <p:sldId xmlns:r="http://schemas.openxmlformats.org/officeDocument/2006/relationships" id="259" r:id="Re2a42c37b4cd4379"/>
    <p:sldId xmlns:r="http://schemas.openxmlformats.org/officeDocument/2006/relationships" id="260" r:id="R8ee62e12dfa342ea"/>
    <p:sldId xmlns:r="http://schemas.openxmlformats.org/officeDocument/2006/relationships" id="261" r:id="Rd2bc2eeeefe144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a73b4f1a6e49de" /><Relationship Type="http://schemas.openxmlformats.org/officeDocument/2006/relationships/slideMaster" Target="/ppt/slideMasters/slideMaster1.xml" Id="R5617789d23554079" /><Relationship Type="http://schemas.openxmlformats.org/officeDocument/2006/relationships/notesMaster" Target="/ppt/notesMasters/notesMaster1.xml" Id="Ra9d90b67a16543c9" /><Relationship Type="http://schemas.openxmlformats.org/officeDocument/2006/relationships/presProps" Target="/ppt/presProps.xml" Id="R0c5a471191204a62" /><Relationship Type="http://schemas.openxmlformats.org/officeDocument/2006/relationships/tableStyles" Target="/ppt/tableStyles.xml" Id="R8e0ec22ff9c84289" /><Relationship Type="http://schemas.openxmlformats.org/officeDocument/2006/relationships/slide" Target="/ppt/slides/slide1.xml" Id="R55cfd68e9f3c4062" /><Relationship Type="http://schemas.openxmlformats.org/officeDocument/2006/relationships/slide" Target="/ppt/slides/slide2.xml" Id="R318fb7528fb24b1b" /><Relationship Type="http://schemas.openxmlformats.org/officeDocument/2006/relationships/slide" Target="/ppt/slides/slide3.xml" Id="Rbad8b78857b843a1" /><Relationship Type="http://schemas.openxmlformats.org/officeDocument/2006/relationships/slide" Target="/ppt/slides/slide4.xml" Id="Re2a42c37b4cd4379" /><Relationship Type="http://schemas.openxmlformats.org/officeDocument/2006/relationships/slide" Target="/ppt/slides/slide5.xml" Id="R8ee62e12dfa342ea" /><Relationship Type="http://schemas.openxmlformats.org/officeDocument/2006/relationships/slide" Target="/ppt/slides/slide6.xml" Id="Rd2bc2eeeefe144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7760a7e3e744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beb0361a204d57" /><Relationship Type="http://schemas.openxmlformats.org/officeDocument/2006/relationships/notesMaster" Target="/ppt/notesMasters/notesMaster1.xml" Id="Rdca48f786cdc4b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07af9076074386" /><Relationship Type="http://schemas.openxmlformats.org/officeDocument/2006/relationships/notesMaster" Target="/ppt/notesMasters/notesMaster1.xml" Id="R266a1a451e1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128190eb7d4f18" /><Relationship Type="http://schemas.openxmlformats.org/officeDocument/2006/relationships/notesMaster" Target="/ppt/notesMasters/notesMaster1.xml" Id="Re98dede84e8f49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4b9ba832fc476c" /><Relationship Type="http://schemas.openxmlformats.org/officeDocument/2006/relationships/notesMaster" Target="/ppt/notesMasters/notesMaster1.xml" Id="R5ad42ae75e3843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4ce6461f224482" /><Relationship Type="http://schemas.openxmlformats.org/officeDocument/2006/relationships/notesMaster" Target="/ppt/notesMasters/notesMaster1.xml" Id="Rab3ea26f085f48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c850df21e245bb" /><Relationship Type="http://schemas.openxmlformats.org/officeDocument/2006/relationships/notesMaster" Target="/ppt/notesMasters/notesMaster1.xml" Id="R91733e47a27f48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Scope: public-data student case study. No client engagement or implemented savings.</a:t>
            </a:r>
          </a:p>
          <a:p xmlns:a="http://schemas.openxmlformats.org/drawingml/2006/main">
            <a:r>
              <a:t>2026: https://dixon-website.s3.ap-south-1.amazonaws.com/uploads/8afe81b1-4e6c-44c3-84c5-92304ed8c07d-AnnualReportFY2025-26.pdf</a:t>
            </a:r>
          </a:p>
          <a:p xmlns:a="http://schemas.openxmlformats.org/drawingml/2006/main">
            <a:r>
              <a:t>2025: https://dixon-website.s3.ap-south-1.amazonaws.com/uploads/efdb9811-daf3-459e-ab6b-60a94aebaa4f-AnnualReport-2024-25.pdf</a:t>
            </a:r>
          </a:p>
          <a:p xmlns:a="http://schemas.openxmlformats.org/drawingml/2006/main">
            <a:r>
              <a:t>2024: https://dixon-website.s3.ap-south-1.amazonaws.com/uploads/1745428945732_dixon-annual-report-2023-24.pdf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Revenue uses the statement of profit and loss, not management total revenue including selected other income. EBITDA is revenue minus materials, inventory-change expense, employee benefits and other expenses.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Official sources:</a:t>
            </a:r>
          </a:p>
          <a:p xmlns:a="http://schemas.openxmlformats.org/drawingml/2006/main">
            <a:r>
              <a:t>2026: https://dixon-website.s3.ap-south-1.amazonaws.com/uploads/8afe81b1-4e6c-44c3-84c5-92304ed8c07d-AnnualReportFY2025-26.pdf</a:t>
            </a:r>
          </a:p>
          <a:p xmlns:a="http://schemas.openxmlformats.org/drawingml/2006/main">
            <a:r>
              <a:t>2025: https://dixon-website.s3.ap-south-1.amazonaws.com/uploads/efdb9811-daf3-459e-ab6b-60a94aebaa4f-AnnualReport-2024-25.pdf</a:t>
            </a:r>
          </a:p>
          <a:p xmlns:a="http://schemas.openxmlformats.org/drawingml/2006/main">
            <a:r>
              <a:t>2024: https://dixon-website.s3.ap-south-1.amazonaws.com/uploads/1745428945732_dixon-annual-report-2023-24.pdf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Group PAT includes non-controlling interests. OCF covers the whole consolidated group. FY2025 exceptional gain: INR459.98cr. FY2026 equity investment disposal/fair value gain: INR670.75cr; business undertaking sale gain: INR21.88cr. Gains are pre-tax. Cash after capex excludes financing, acquisitions and other investing cash flows.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Official sources:</a:t>
            </a:r>
          </a:p>
          <a:p xmlns:a="http://schemas.openxmlformats.org/drawingml/2006/main">
            <a:r>
              <a:t>2026: https://dixon-website.s3.ap-south-1.amazonaws.com/uploads/8afe81b1-4e6c-44c3-84c5-92304ed8c07d-AnnualReportFY2025-26.pdf</a:t>
            </a:r>
          </a:p>
          <a:p xmlns:a="http://schemas.openxmlformats.org/drawingml/2006/main">
            <a:r>
              <a:t>2025: https://dixon-website.s3.ap-south-1.amazonaws.com/uploads/efdb9811-daf3-459e-ab6b-60a94aebaa4f-AnnualReport-2024-25.pdf</a:t>
            </a:r>
          </a:p>
          <a:p xmlns:a="http://schemas.openxmlformats.org/drawingml/2006/main">
            <a:r>
              <a:t>2024: https://dixon-website.s3.ap-south-1.amazonaws.com/uploads/1745428945732_dixon-annual-report-2023-24.pdf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Collection effect = revenue /365 x5. Inventory effect = (materials consumed + inventory-change expense) /365 x5. Supplier effect = raw-material/component purchases /365 x5. These are incremental cash requirements, not profit losses or forecasts. No credit lines, cash seasonality or tax effects modelled.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Official sources:</a:t>
            </a:r>
          </a:p>
          <a:p xmlns:a="http://schemas.openxmlformats.org/drawingml/2006/main">
            <a:r>
              <a:t>2026: https://dixon-website.s3.ap-south-1.amazonaws.com/uploads/8afe81b1-4e6c-44c3-84c5-92304ed8c07d-AnnualReportFY2025-26.pdf</a:t>
            </a:r>
          </a:p>
          <a:p xmlns:a="http://schemas.openxmlformats.org/drawingml/2006/main">
            <a:r>
              <a:t>2025: https://dixon-website.s3.ap-south-1.amazonaws.com/uploads/efdb9811-daf3-459e-ab6b-60a94aebaa4f-AnnualReport-2024-25.pdf</a:t>
            </a:r>
          </a:p>
          <a:p xmlns:a="http://schemas.openxmlformats.org/drawingml/2006/main">
            <a:r>
              <a:t>2024: https://dixon-website.s3.ap-south-1.amazonaws.com/uploads/1745428945732_dixon-annual-report-2023-24.pdf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Assumed 2% annual-sales cohort, 5-day collection improvement, 50% of released cash replacing borrowing at 10%, INR0.25cr setup, INR0.12cr annual operating cost. Year1 saving=50% of annual run rate. Year2 saving=100%. 24m ROI = cumulative net financing benefit / (setup + two years running costs). Payback assumes uniform 50% first-year benefit and full second-year benefit.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Official sources:</a:t>
            </a:r>
          </a:p>
          <a:p xmlns:a="http://schemas.openxmlformats.org/drawingml/2006/main">
            <a:r>
              <a:t>2026: https://dixon-website.s3.ap-south-1.amazonaws.com/uploads/8afe81b1-4e6c-44c3-84c5-92304ed8c07d-AnnualReportFY2025-26.pdf</a:t>
            </a:r>
          </a:p>
          <a:p xmlns:a="http://schemas.openxmlformats.org/drawingml/2006/main">
            <a:r>
              <a:t>2025: https://dixon-website.s3.ap-south-1.amazonaws.com/uploads/efdb9811-daf3-459e-ab6b-60a94aebaa4f-AnnualReport-2024-25.pdf</a:t>
            </a:r>
          </a:p>
          <a:p xmlns:a="http://schemas.openxmlformats.org/drawingml/2006/main">
            <a:r>
              <a:t>2024: https://dixon-website.s3.ap-south-1.amazonaws.com/uploads/1745428945732_dixon-annual-report-2023-24.pdf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FY2026 cash minus borrowings excluding leases is INR299.93cr. Avoid assuming full interest savings given this closing net-cash position. Invoice defects and disputes are hypotheses. Pilot comparison needs matching customer/cohort, seasonality and sales mix. Maintain contractual supplier terms, customer service and bad-debt controls. The suggested 8-week sequence needs extension if collection cycles are longer.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Official sources:</a:t>
            </a:r>
          </a:p>
          <a:p xmlns:a="http://schemas.openxmlformats.org/drawingml/2006/main">
            <a:r>
              <a:t>2026: https://dixon-website.s3.ap-south-1.amazonaws.com/uploads/8afe81b1-4e6c-44c3-84c5-92304ed8c07d-AnnualReportFY2025-26.pdf</a:t>
            </a:r>
          </a:p>
          <a:p xmlns:a="http://schemas.openxmlformats.org/drawingml/2006/main">
            <a:r>
              <a:t>2025: https://dixon-website.s3.ap-south-1.amazonaws.com/uploads/efdb9811-daf3-459e-ab6b-60a94aebaa4f-AnnualReport-2024-25.pdf</a:t>
            </a:r>
          </a:p>
          <a:p xmlns:a="http://schemas.openxmlformats.org/drawingml/2006/main">
            <a:r>
              <a:t>2024: https://dixon-website.s3.ap-south-1.amazonaws.com/uploads/1745428945732_dixon-annual-report-2023-24.pdf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3fbe9d23fa47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e31854812645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47899ce6141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8b894ec3f747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9f61cdf5e546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e2c923f5ea40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9E026F9-015D-4E3C-A203-ADB53FD4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E4B0BBA-13FB-427D-8F29-C2A41940D6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AAAF85C-E72B-4B43-B3E1-D7AAF2C473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6041A75-FC33-4DFC-962A-0067C07C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4888844-861C-496A-A724-A0C2B69075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5BC0FF8-97A9-4168-802B-82DBA5EC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CFFB208-AAFF-475C-B871-0B72EFCAA3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87B0346-314A-4769-9458-9EA54ACB3C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6356A84-3D84-46E6-A39D-D728144E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391BE7D-F600-4713-8980-C6E88F776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26478F0-8AC7-46B4-A928-C96327F8E5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47AAE9-1952-4A78-9146-5F2AC6D44F6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1182A6B-E535-4AA7-B2E3-9C3F679B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D4BCC05-E556-4104-84F0-593D785960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0221B8-87E7-4C50-8FF6-26E685C634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60c55a1a304a18" /><Relationship Type="http://schemas.openxmlformats.org/officeDocument/2006/relationships/slideLayout" Target="/ppt/slideLayouts/slideLayout1.xml" Id="R62f1501039f74e06" /><Relationship Type="http://schemas.openxmlformats.org/officeDocument/2006/relationships/slideLayout" Target="/ppt/slideLayouts/slideLayout2.xml" Id="R1d19e856542e4125" /><Relationship Type="http://schemas.openxmlformats.org/officeDocument/2006/relationships/slideLayout" Target="/ppt/slideLayouts/slideLayout3.xml" Id="Rb55c44a29ee3472e" /><Relationship Type="http://schemas.openxmlformats.org/officeDocument/2006/relationships/slideLayout" Target="/ppt/slideLayouts/slideLayout4.xml" Id="R486314dfc0ba4e21" /><Relationship Type="http://schemas.openxmlformats.org/officeDocument/2006/relationships/slideLayout" Target="/ppt/slideLayouts/slideLayout5.xml" Id="R79de9b919bf04b7e" /><Relationship Type="http://schemas.openxmlformats.org/officeDocument/2006/relationships/slideLayout" Target="/ppt/slideLayouts/slideLayout6.xml" Id="R497c136dcf4946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f1501039f74e06"/>
    <p:sldLayoutId xmlns:r="http://schemas.openxmlformats.org/officeDocument/2006/relationships" id="2147483650" r:id="R1d19e856542e4125"/>
    <p:sldLayoutId xmlns:r="http://schemas.openxmlformats.org/officeDocument/2006/relationships" id="2147483651" r:id="Rb55c44a29ee3472e"/>
    <p:sldLayoutId xmlns:r="http://schemas.openxmlformats.org/officeDocument/2006/relationships" id="2147483652" r:id="R486314dfc0ba4e21"/>
    <p:sldLayoutId xmlns:r="http://schemas.openxmlformats.org/officeDocument/2006/relationships" id="2147483653" r:id="R79de9b919bf04b7e"/>
    <p:sldLayoutId xmlns:r="http://schemas.openxmlformats.org/officeDocument/2006/relationships" id="2147483654" r:id="R497c136dcf4946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791f20dd414e4e" /><Relationship Type="http://schemas.openxmlformats.org/officeDocument/2006/relationships/notesSlide" Target="/ppt/notesSlides/notesSlide1.xml" Id="R435aaeda3b0f4d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c03d86e1c643ba" /><Relationship Type="http://schemas.openxmlformats.org/officeDocument/2006/relationships/chart" Target="/ppt/slides/charts/chart1.xml" Id="Rd2f0cb2db3d64e19" /><Relationship Type="http://schemas.openxmlformats.org/officeDocument/2006/relationships/notesSlide" Target="/ppt/notesSlides/notesSlide2.xml" Id="R0bdc7c41820f49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e46932ce344640" /><Relationship Type="http://schemas.openxmlformats.org/officeDocument/2006/relationships/notesSlide" Target="/ppt/notesSlides/notesSlide3.xml" Id="R9f1bff578d2446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b3612eea8a40ef" /><Relationship Type="http://schemas.openxmlformats.org/officeDocument/2006/relationships/chart" Target="/ppt/slides/charts/chart2.xml" Id="Re64c088c603a4860" /><Relationship Type="http://schemas.openxmlformats.org/officeDocument/2006/relationships/notesSlide" Target="/ppt/notesSlides/notesSlide4.xml" Id="R44b72ecddcc24a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33b1ca45834a37" /><Relationship Type="http://schemas.openxmlformats.org/officeDocument/2006/relationships/notesSlide" Target="/ppt/notesSlides/notesSlide5.xml" Id="R5950771c4b484f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7c04f04e964901" /><Relationship Type="http://schemas.openxmlformats.org/officeDocument/2006/relationships/notesSlide" Target="/ppt/notesSlides/notesSlide6.xml" Id="Rc0e4c4e07cd346e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Revenue (INR crore)</c:v>
          </c:tx>
          <c:spPr>
            <a:solidFill xmlns:a="http://schemas.openxmlformats.org/drawingml/2006/main">
              <a:srgbClr val="203952"/>
            </a:solidFill>
          </c:spPr>
          <c:cat>
            <c:strRef>
              <c:f>'Chart Data'!$A$2:$A$4</c:f>
              <c:strCache>
                <c:ptCount val="3"/>
                <c:pt idx="0">
                  <c:v>FY2024</c:v>
                </c:pt>
                <c:pt idx="1">
                  <c:v>FY2025</c:v>
                </c:pt>
                <c:pt idx="2">
                  <c:v>FY2026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17690.9</c:v>
                </c:pt>
                <c:pt idx="1">
                  <c:v>38860.1</c:v>
                </c:pt>
                <c:pt idx="2">
                  <c:v>48872.8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Additional cash (INR crore)</c:v>
          </c:tx>
          <c:spPr>
            <a:solidFill xmlns:a="http://schemas.openxmlformats.org/drawingml/2006/main">
              <a:srgbClr val="203952"/>
            </a:solidFill>
          </c:spPr>
          <c:cat>
            <c:strRef>
              <c:f>'Chart Data'!$A$2:$A$4</c:f>
              <c:strCache>
                <c:ptCount val="3"/>
                <c:pt idx="0">
                  <c:v>Collections +5 days</c:v>
                </c:pt>
                <c:pt idx="1">
                  <c:v>Inventory +5 days</c:v>
                </c:pt>
                <c:pt idx="2">
                  <c:v>Supplier days -5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669.49</c:v>
                </c:pt>
                <c:pt idx="1">
                  <c:v>620.24</c:v>
                </c:pt>
                <c:pt idx="2">
                  <c:v>621.46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07CEA-4813-4086-9D59-39599E41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50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Dixon Technologies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F5C54-EC0F-4322-9B6A-F1D9E502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00" b="1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82B43"/>
                </a:solidFill>
                <a:latin typeface="Arial"/>
                <a:ea typeface="Arial"/>
                <a:cs typeface="Arial"/>
              </a:rPr>
              <a:t>Cash conversion and</a:t>
            </a:r>
          </a:p>
          <a:p xmlns:a="http://schemas.openxmlformats.org/drawingml/2006/main">
            <a:pPr>
              <a:buNone/>
              <a:defRPr sz="4200" b="1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82B43"/>
                </a:solidFill>
                <a:latin typeface="Arial"/>
                <a:ea typeface="Arial"/>
                <a:cs typeface="Arial"/>
              </a:rPr>
              <a:t>operations improvement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964F6-407D-4F15-A50D-E8FE3795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Independent case study using consolidated FY2024-FY2026 reports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D534B-58D3-40B0-8555-2F4C3E54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8D641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D641E"/>
                </a:solidFill>
                <a:latin typeface="Arial"/>
                <a:ea typeface="Arial"/>
                <a:cs typeface="Arial"/>
              </a:rPr>
              <a:t>Hisham Siddiqui</a:t>
            </a:r>
          </a:p>
          <a:p xmlns:a="http://schemas.openxmlformats.org/drawingml/2006/main">
            <a:pPr>
              <a:buNone/>
              <a:defRPr sz="1875" b="0">
                <a:solidFill>
                  <a:srgbClr val="8D641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D641E"/>
                </a:solidFill>
                <a:latin typeface="Arial"/>
                <a:ea typeface="Arial"/>
                <a:cs typeface="Arial"/>
              </a:rPr>
              <a:t>7 October 2026</a:t>
            </a:r>
          </a:p>
        </p:txBody>
      </p:sp>
    </p:spTree>
    <p:extLst>
      <p:ext uri="{BB962C8B-B14F-4D97-AF65-F5344CB8AC3E}">
        <p14:creationId xmlns:p14="http://schemas.microsoft.com/office/powerpoint/2010/main" val="1352241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1EE85-F319-4649-9E16-FC3D46E4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Revenue growth and operating margins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58EA3-EDB3-4055-A980-F47ED563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Source: consolidated annual reports. Operating EBITDA excludes all other income and exceptional gains.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A5C7941F-E700-4B98-9E35-56ABD73C81C1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6191250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0cb2db3d64e1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7DE2C-2068-4DA5-9CD4-46565D2F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INR crore</a:t>
            </a:r>
          </a:p>
        </p:txBody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7EE65-CDCA-4A7A-8579-1407462B3154}"/>
              </a:ext>
            </a:extLst>
          </p:cNvPr>
          <p:cNvGraphicFramePr/>
          <p:nvPr/>
        </p:nvGraphicFramePr>
        <p:xfrm>
          <a:off xmlns:a="http://schemas.openxmlformats.org/drawingml/2006/main" x="7372350" y="1790700"/>
          <a:ext xmlns:a="http://schemas.openxmlformats.org/drawingml/2006/main" cx="4095750" cy="22669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14500"/>
                <a:gridCol w="2381250"/>
              </a:tblGrid>
              <a:tr h="56673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Year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Operating margin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FY2024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3.94%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FY2025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3.88%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FY2026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3.82%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12F86-1C4A-4790-9A86-3943FD24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7675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FY2026 revenue grew 25.8%.</a:t>
            </a:r>
          </a:p>
          <a:p xmlns:a="http://schemas.openxmlformats.org/drawingml/2006/main">
            <a:pPr>
              <a:buNone/>
              <a:defRPr sz="1875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Derived operating margin narrowed</a:t>
            </a:r>
          </a:p>
          <a:p xmlns:a="http://schemas.openxmlformats.org/drawingml/2006/main">
            <a:pPr>
              <a:buNone/>
              <a:defRPr sz="1875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from 3.94% in FY2024 to 3.82%.</a:t>
            </a:r>
          </a:p>
        </p:txBody>
      </p:sp>
    </p:spTree>
    <p:extLst>
      <p:ext uri="{BB962C8B-B14F-4D97-AF65-F5344CB8AC3E}">
        <p14:creationId xmlns:p14="http://schemas.microsoft.com/office/powerpoint/2010/main" val="1336060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AF367-17C1-4AF6-973F-F00128AC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Operating cash flow and earnings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8C7D6-FF91-4258-9436-A1C45BF4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Sources: FY2026 report pp408-411, 458. FY2025 report pp322-325. INR crore unless stated otherwise.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8CF46-43F1-4F0B-8021-19AB2D7E5D7F}"/>
              </a:ext>
            </a:extLst>
          </p:cNvPr>
          <p:cNvGraphicFramePr/>
          <p:nvPr/>
        </p:nvGraphicFramePr>
        <p:xfrm>
          <a:off xmlns:a="http://schemas.openxmlformats.org/drawingml/2006/main" x="609600" y="1609725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000500"/>
                <a:gridCol w="2324100"/>
                <a:gridCol w="2324100"/>
                <a:gridCol w="2324100"/>
              </a:tblGrid>
              <a:tr h="5334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FY2024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FY2025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FY2026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Operating cash flow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584.31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1,149.75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1,782.29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OCF / group PAT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1.56x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0.93x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1.08x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Cash after cash capex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-0.12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210.40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714.78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Total WC cash-flow effect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-8.81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-181.62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223.33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BEA59-A7CC-45F0-AC10-CB1B28F0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FY2026 OCF increased 55.0%, with an INR 223.33 crore working-capital inflow.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E3F74-9A35-48F6-9982-3B8F4EF3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/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FY2026 cash bridge: INR 423.60 crore from cash-flow activities + INR 112.98 crore from group changes</a:t>
            </a:r>
          </a:p>
          <a:p xmlns:a="http://schemas.openxmlformats.org/drawingml/2006/main">
            <a:pPr>
              <a:buNone/>
              <a:defRPr sz="1650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= INR 536.58 crore increase in closing cash (Screener: INR 537 crore, rounded).</a:t>
            </a:r>
          </a:p>
        </p:txBody>
      </p:sp>
    </p:spTree>
    <p:extLst>
      <p:ext uri="{BB962C8B-B14F-4D97-AF65-F5344CB8AC3E}">
        <p14:creationId xmlns:p14="http://schemas.microsoft.com/office/powerpoint/2010/main" val="9104288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3ADBD-77C7-4CA0-95E8-71582BE7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Cash sensitivity to five-day operational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FB636-5409-4E07-A080-4038B4F9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Illustrative isolated scenarios at FY2026 annual volumes. Even activity and unchanged prices assumed.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9641EE30-0361-4D24-A4CA-516C70DC7373}"/>
              </a:ext>
            </a:extLst>
          </p:cNvPr>
          <p:cNvGraphicFramePr/>
          <p:nvPr/>
        </p:nvGraphicFramePr>
        <p:xfrm>
          <a:off xmlns:a="http://schemas.openxmlformats.org/drawingml/2006/main" x="723900" y="1666875"/>
          <a:ext xmlns:a="http://schemas.openxmlformats.org/drawingml/2006/main" cx="1057275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4c088c603a486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5C680-2D3A-4AC7-B1B6-74B71DA2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Additional cash required, INR crore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8471D-DE80-4639-B7FF-553D2D05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Each isolated change equals roughly 81-87% of reported closing cash.</a:t>
            </a:r>
          </a:p>
          <a:p xmlns:a="http://schemas.openxmlformats.org/drawingml/2006/main">
            <a:pPr>
              <a:buNone/>
              <a:defRPr sz="2025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This compares scale. It does not establish a funding shortfall.</a:t>
            </a:r>
          </a:p>
        </p:txBody>
      </p:sp>
    </p:spTree>
    <p:extLst>
      <p:ext uri="{BB962C8B-B14F-4D97-AF65-F5344CB8AC3E}">
        <p14:creationId xmlns:p14="http://schemas.microsoft.com/office/powerpoint/2010/main" val="944097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A6BE5-8F26-4FB1-8F20-8533D1FB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Collections pilot economics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529D1-31FB-43D5-8E46-77B148DB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All pilot inputs are analyst assumptions. Cash release is excluded from ROI. Benefits and costs are pre-tax.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CFF03-5267-4323-9D85-F505F93160A8}"/>
              </a:ext>
            </a:extLst>
          </p:cNvPr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5257800" cy="3333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390900"/>
                <a:gridCol w="1866900"/>
              </a:tblGrid>
              <a:tr h="5556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Assumption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Default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Annual sales covered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Collection improvement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5 days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Financed share / rate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50% / 10%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Setup / annual cost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INR 25L / INR 12L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Year 1 benefit realisation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B61C2-BFC7-48A1-9338-EFB6EE8961A7}"/>
              </a:ext>
            </a:extLst>
          </p:cNvPr>
          <p:cNvGraphicFramePr/>
          <p:nvPr/>
        </p:nvGraphicFramePr>
        <p:xfrm>
          <a:off xmlns:a="http://schemas.openxmlformats.org/drawingml/2006/main" x="6229350" y="1638300"/>
          <a:ext xmlns:a="http://schemas.openxmlformats.org/drawingml/2006/main" cx="5353050" cy="3333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286125"/>
                <a:gridCol w="2066925"/>
              </a:tblGrid>
              <a:tr h="5556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Modelled outcome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Default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One-time cash release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INR 13.39cr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Year 1 net benefit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(INR 3.53L)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24-month net benefit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INR 51.42L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Payback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12.77 months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24-month project ROI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104.9%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9723A-A4EB-419F-84E7-F8809061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24-month break-even requires 24.4% of released cash to replace borrowing</a:t>
            </a:r>
          </a:p>
          <a:p xmlns:a="http://schemas.openxmlformats.org/drawingml/2006/main">
            <a:pPr>
              <a:buNone/>
              <a:defRPr sz="1950" b="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B43"/>
                </a:solidFill>
                <a:latin typeface="Arial"/>
                <a:ea typeface="Arial"/>
                <a:cs typeface="Arial"/>
              </a:rPr>
              <a:t>at the assumed rate. With no financing displacement, savings are zero.</a:t>
            </a:r>
          </a:p>
        </p:txBody>
      </p:sp>
    </p:spTree>
    <p:extLst>
      <p:ext uri="{BB962C8B-B14F-4D97-AF65-F5344CB8AC3E}">
        <p14:creationId xmlns:p14="http://schemas.microsoft.com/office/powerpoint/2010/main" val="14687190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43E4B-DC59-4822-970B-07B93A41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Recommendation and evidence needed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4030F-68DC-45A0-B554-B5CE1371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565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6578"/>
                </a:solidFill>
                <a:latin typeface="Arial"/>
                <a:ea typeface="Arial"/>
                <a:cs typeface="Arial"/>
              </a:rPr>
              <a:t>Proposed implementation. Public statements cannot establish invoice-level causes or realised savings.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697B9-1A45-43FE-BC32-496C00C08D46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619250"/>
                <a:gridCol w="4333875"/>
                <a:gridCol w="5019675"/>
              </a:tblGrid>
              <a:tr h="6858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action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/ decision</a:t>
                      </a:r>
                    </a:p>
                  </a:txBody>
                  <a:tcPr marL="91440" marR="91440" marT="45720" marB="45720">
                    <a:solidFill>
                      <a:srgbClr val="2039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Weeks 1-2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Establish invoice and funding baselines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Due dates, payment dates, disputes and avoidable financing costs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Weeks 3-6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Test a limited collections process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Invoice completeness, dispute ownership and matched untreated cohort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Weeks 7-8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Evaluate results over collection cycles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Actual days saved, discounts, bad debts and borrowing displaced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Scale 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Approve expansion only on measured economics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B43"/>
                          </a:solidFill>
                          <a:latin typeface="Arial"/>
                          <a:ea typeface="Arial"/>
                          <a:cs typeface="Arial"/>
                        </a:rPr>
                        <a:t>Verify costs and financing savings against an agreed return hurdle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95C80-52D6-4B79-B652-A98659E0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/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20395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952"/>
                </a:solidFill>
                <a:latin typeface="Arial"/>
                <a:ea typeface="Arial"/>
                <a:cs typeface="Arial"/>
              </a:rPr>
              <a:t>Pilot collections after validation; review collections, inventory and supplier terms weekly.</a:t>
            </a:r>
          </a:p>
        </p:txBody>
      </p:sp>
    </p:spTree>
    <p:extLst>
      <p:ext uri="{BB962C8B-B14F-4D97-AF65-F5344CB8AC3E}">
        <p14:creationId xmlns:p14="http://schemas.microsoft.com/office/powerpoint/2010/main" val="11050199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2026-10-08T13:33:17.0760000Z</dcterms:created>
  <dcterms:modified xsi:type="dcterms:W3CDTF">2026-10-08T13:33:17.0760000Z</dcterms:modified>
</coreProperties>
</file>