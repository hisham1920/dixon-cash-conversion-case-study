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c0f76c108452c" /><Relationship Type="http://schemas.openxmlformats.org/officeDocument/2006/relationships/extended-properties" Target="/docProps/app.xml" Id="R854dddd85b7a4ed7" /><Relationship Type="http://schemas.openxmlformats.org/officeDocument/2006/relationships/officeDocument" Target="/ppt/presentation.xml" Id="R2f6c51b2851e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5e1eb539343dc"/>
  </p:sldMasterIdLst>
  <p:notesMasterIdLst>
    <p:notesMasterId xmlns:r="http://schemas.openxmlformats.org/officeDocument/2006/relationships" r:id="R251bf0e295bc42be"/>
  </p:notesMasterIdLst>
  <p:sldIdLst>
    <p:sldId xmlns:r="http://schemas.openxmlformats.org/officeDocument/2006/relationships" id="256" r:id="Rc0d5c1c007a64c0d"/>
    <p:sldId xmlns:r="http://schemas.openxmlformats.org/officeDocument/2006/relationships" id="257" r:id="R2c66574fb8cb47d6"/>
    <p:sldId xmlns:r="http://schemas.openxmlformats.org/officeDocument/2006/relationships" id="258" r:id="Rf8ef1d44afb2420c"/>
    <p:sldId xmlns:r="http://schemas.openxmlformats.org/officeDocument/2006/relationships" id="259" r:id="R80af4d71a55f4102"/>
    <p:sldId xmlns:r="http://schemas.openxmlformats.org/officeDocument/2006/relationships" id="260" r:id="R80ccc3c644d344e4"/>
    <p:sldId xmlns:r="http://schemas.openxmlformats.org/officeDocument/2006/relationships" id="261" r:id="Rd7cad6c35b7045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b0780ed5e848e3" /><Relationship Type="http://schemas.openxmlformats.org/officeDocument/2006/relationships/slideMaster" Target="/ppt/slideMasters/slideMaster1.xml" Id="R0be5e1eb539343dc" /><Relationship Type="http://schemas.openxmlformats.org/officeDocument/2006/relationships/notesMaster" Target="/ppt/notesMasters/notesMaster1.xml" Id="R251bf0e295bc42be" /><Relationship Type="http://schemas.openxmlformats.org/officeDocument/2006/relationships/presProps" Target="/ppt/presProps.xml" Id="R20d9ae18df274024" /><Relationship Type="http://schemas.openxmlformats.org/officeDocument/2006/relationships/tableStyles" Target="/ppt/tableStyles.xml" Id="R7aae5c29624a40fe" /><Relationship Type="http://schemas.openxmlformats.org/officeDocument/2006/relationships/slide" Target="/ppt/slides/slide1.xml" Id="Rc0d5c1c007a64c0d" /><Relationship Type="http://schemas.openxmlformats.org/officeDocument/2006/relationships/slide" Target="/ppt/slides/slide2.xml" Id="R2c66574fb8cb47d6" /><Relationship Type="http://schemas.openxmlformats.org/officeDocument/2006/relationships/slide" Target="/ppt/slides/slide3.xml" Id="Rf8ef1d44afb2420c" /><Relationship Type="http://schemas.openxmlformats.org/officeDocument/2006/relationships/slide" Target="/ppt/slides/slide4.xml" Id="R80af4d71a55f4102" /><Relationship Type="http://schemas.openxmlformats.org/officeDocument/2006/relationships/slide" Target="/ppt/slides/slide5.xml" Id="R80ccc3c644d344e4" /><Relationship Type="http://schemas.openxmlformats.org/officeDocument/2006/relationships/slide" Target="/ppt/slides/slide6.xml" Id="Rd7cad6c35b70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52df7b3c142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94f2ce92344dc" /><Relationship Type="http://schemas.openxmlformats.org/officeDocument/2006/relationships/notesMaster" Target="/ppt/notesMasters/notesMaster1.xml" Id="R18dc654ed6b7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97596b7f9482e" /><Relationship Type="http://schemas.openxmlformats.org/officeDocument/2006/relationships/notesMaster" Target="/ppt/notesMasters/notesMaster1.xml" Id="Rdd01084021ad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84e13a3f24007" /><Relationship Type="http://schemas.openxmlformats.org/officeDocument/2006/relationships/notesMaster" Target="/ppt/notesMasters/notesMaster1.xml" Id="R95155752cc82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8ee0b48d3440ad" /><Relationship Type="http://schemas.openxmlformats.org/officeDocument/2006/relationships/notesMaster" Target="/ppt/notesMasters/notesMaster1.xml" Id="Rf53eb29e9bb1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51bde0ad04ba3" /><Relationship Type="http://schemas.openxmlformats.org/officeDocument/2006/relationships/notesMaster" Target="/ppt/notesMasters/notesMaster1.xml" Id="Rf80060df470d40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64de59f19d4eb0" /><Relationship Type="http://schemas.openxmlformats.org/officeDocument/2006/relationships/notesMaster" Target="/ppt/notesMasters/notesMaster1.xml" Id="R331a2c6c80be48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public-data student case study. No client engagement or implemented savings.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uses the statement of profit and loss, not management total revenue including selected other income. EBITDA is revenue minus materials, inventory-change expense, employee benefits and other expenses.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sources: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 PAT includes non-controlling interests. OCF covers the whole consolidated group. FY2025 exceptional gain: INR459.98cr. FY2026 equity investment disposal/fair value gain: INR670.75cr; business undertaking sale gain: INR21.88cr. Gains are pre-tax. Cash after capex excludes financing, acquisitions and other investing cash 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sources: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Collection effect = revenue /365 x5. Inventory effect = (materials consumed + inventory-change expense) /365 x5. Supplier effect = raw-material/component purchases /365 x5. These are incremental cash requirements, not profit losses or forecasts. No credit lines, cash seasonality or tax effects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sources: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Assumed 2% annual-sales cohort, 5-day collection improvement, 50% of released cash replacing borrowing at 10%, INR0.25cr setup, INR0.12cr annual operating cost. Year1 saving=50% of annual run rate. Year2 saving=100%. 24m ROI = cumulative net financing benefit / (setup + two years running costs). Payback assumes uniform 50% first-year benefit and full second-year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sources: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FY2026 cash minus borrowings excluding leases is INR299.93cr. Avoid assuming full interest savings given this closing net-cash position. Invoice defects and disputes are hypotheses. Pilot comparison needs matching customer/cohort, seasonality and sales mix. Maintain contractual supplier terms, customer service and bad-debt controls. The suggested 8-week sequence needs extension if collection cycles are longer.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sources:</a:t>
            </a:r>
          </a:p>
          <a:p xmlns:a="http://schemas.openxmlformats.org/drawingml/2006/main">
            <a:r>
              <a:t>2026: https://dixon-website.s3.ap-south-1.amazonaws.com/uploads/8afe81b1-4e6c-44c3-84c5-92304ed8c07d-AnnualReportFY2025-26.pdf</a:t>
            </a:r>
          </a:p>
          <a:p xmlns:a="http://schemas.openxmlformats.org/drawingml/2006/main">
            <a:r>
              <a:t>2025: https://dixon-website.s3.ap-south-1.amazonaws.com/uploads/efdb9811-daf3-459e-ab6b-60a94aebaa4f-AnnualReport-2024-25.pdf</a:t>
            </a:r>
          </a:p>
          <a:p xmlns:a="http://schemas.openxmlformats.org/drawingml/2006/main">
            <a:r>
              <a:t>2024: https://dixon-website.s3.ap-south-1.amazonaws.com/uploads/1745428945732_dixon-annual-report-2023-24.pdf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cd53b425e4c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b914155e144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8c0b6a3fe4d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c578c8baa4a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9a3c479b543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1ed0e5a2e4f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9E026F9-015D-4E3C-A203-ADB53FD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4B0BBA-13FB-427D-8F29-C2A41940D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AAF85C-E72B-4B43-B3E1-D7AAF2C473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041A75-FC33-4DFC-962A-0067C07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888844-861C-496A-A724-A0C2B6907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BC0FF8-97A9-4168-802B-82DBA5EC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FFB208-AAFF-475C-B871-0B72EFCAA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87B0346-314A-4769-9458-9EA54ACB3C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6356A84-3D84-46E6-A39D-D728144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91BE7D-F600-4713-8980-C6E88F776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6478F0-8AC7-46B4-A928-C96327F8E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47AAE9-1952-4A78-9146-5F2AC6D44F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182A6B-E535-4AA7-B2E3-9C3F679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4BCC05-E556-4104-84F0-593D78596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0221B8-87E7-4C50-8FF6-26E685C63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b50fce729b42ce" /><Relationship Type="http://schemas.openxmlformats.org/officeDocument/2006/relationships/slideLayout" Target="/ppt/slideLayouts/slideLayout1.xml" Id="R49cd110ac4b74168" /><Relationship Type="http://schemas.openxmlformats.org/officeDocument/2006/relationships/slideLayout" Target="/ppt/slideLayouts/slideLayout2.xml" Id="R81f78523d5c6463e" /><Relationship Type="http://schemas.openxmlformats.org/officeDocument/2006/relationships/slideLayout" Target="/ppt/slideLayouts/slideLayout3.xml" Id="R20de551b5432469d" /><Relationship Type="http://schemas.openxmlformats.org/officeDocument/2006/relationships/slideLayout" Target="/ppt/slideLayouts/slideLayout4.xml" Id="Rae0a9791a4a84968" /><Relationship Type="http://schemas.openxmlformats.org/officeDocument/2006/relationships/slideLayout" Target="/ppt/slideLayouts/slideLayout5.xml" Id="Re927fbe424f1471f" /><Relationship Type="http://schemas.openxmlformats.org/officeDocument/2006/relationships/slideLayout" Target="/ppt/slideLayouts/slideLayout6.xml" Id="Re03f2d6a7830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d110ac4b74168"/>
    <p:sldLayoutId xmlns:r="http://schemas.openxmlformats.org/officeDocument/2006/relationships" id="2147483650" r:id="R81f78523d5c6463e"/>
    <p:sldLayoutId xmlns:r="http://schemas.openxmlformats.org/officeDocument/2006/relationships" id="2147483651" r:id="R20de551b5432469d"/>
    <p:sldLayoutId xmlns:r="http://schemas.openxmlformats.org/officeDocument/2006/relationships" id="2147483652" r:id="Rae0a9791a4a84968"/>
    <p:sldLayoutId xmlns:r="http://schemas.openxmlformats.org/officeDocument/2006/relationships" id="2147483653" r:id="Re927fbe424f1471f"/>
    <p:sldLayoutId xmlns:r="http://schemas.openxmlformats.org/officeDocument/2006/relationships" id="2147483654" r:id="Re03f2d6a7830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e93fda72942c8" /><Relationship Type="http://schemas.openxmlformats.org/officeDocument/2006/relationships/notesSlide" Target="/ppt/notesSlides/notesSlide1.xml" Id="R78c55430f37c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551b2e56f4470" /><Relationship Type="http://schemas.openxmlformats.org/officeDocument/2006/relationships/chart" Target="/ppt/slides/charts/chart1.xml" Id="R0d6b34ebbe8149f6" /><Relationship Type="http://schemas.openxmlformats.org/officeDocument/2006/relationships/notesSlide" Target="/ppt/notesSlides/notesSlide2.xml" Id="R80151a7b7f81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6ef850e3c48cc" /><Relationship Type="http://schemas.openxmlformats.org/officeDocument/2006/relationships/notesSlide" Target="/ppt/notesSlides/notesSlide3.xml" Id="Rd490c29ed7c245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2d9cf5a3c4380" /><Relationship Type="http://schemas.openxmlformats.org/officeDocument/2006/relationships/chart" Target="/ppt/slides/charts/chart2.xml" Id="R50346e77680b4418" /><Relationship Type="http://schemas.openxmlformats.org/officeDocument/2006/relationships/notesSlide" Target="/ppt/notesSlides/notesSlide4.xml" Id="R60f12a1329b84e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6d0f92bc54dab" /><Relationship Type="http://schemas.openxmlformats.org/officeDocument/2006/relationships/notesSlide" Target="/ppt/notesSlides/notesSlide5.xml" Id="Re9a4c1ec63a3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104cf04404abd" /><Relationship Type="http://schemas.openxmlformats.org/officeDocument/2006/relationships/notesSlide" Target="/ppt/notesSlides/notesSlide6.xml" Id="R5f098647e56d44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(INR crore)</c:v>
          </c:tx>
          <c:spPr>
            <a:solidFill xmlns:a="http://schemas.openxmlformats.org/drawingml/2006/main">
              <a:srgbClr val="203952"/>
            </a:solidFill>
          </c:spPr>
          <c:cat>
            <c:strRef>
              <c:f>'Chart Data'!$A$2:$A$4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17690.9</c:v>
                </c:pt>
                <c:pt idx="1">
                  <c:v>38860.1</c:v>
                </c:pt>
                <c:pt idx="2">
                  <c:v>48872.8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Additional cash (INR crore)</c:v>
          </c:tx>
          <c:spPr>
            <a:solidFill xmlns:a="http://schemas.openxmlformats.org/drawingml/2006/main">
              <a:srgbClr val="203952"/>
            </a:solidFill>
          </c:spPr>
          <c:cat>
            <c:strRef>
              <c:f>'Chart Data'!$A$2:$A$4</c:f>
              <c:strCache>
                <c:ptCount val="3"/>
                <c:pt idx="0">
                  <c:v>Collections +5 days</c:v>
                </c:pt>
                <c:pt idx="1">
                  <c:v>Inventory +5 days</c:v>
                </c:pt>
                <c:pt idx="2">
                  <c:v>Supplier days -5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669.49</c:v>
                </c:pt>
                <c:pt idx="1">
                  <c:v>620.24</c:v>
                </c:pt>
                <c:pt idx="2">
                  <c:v>621.46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07CEA-4813-4086-9D59-39599E41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Dixon Technologies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F5C54-EC0F-4322-9B6A-F1D9E502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2B43"/>
                </a:solidFill>
                <a:latin typeface="Arial"/>
                <a:ea typeface="Arial"/>
                <a:cs typeface="Arial"/>
              </a:rPr>
              <a:t>Cash conversion and</a:t>
            </a:r>
          </a:p>
          <a:p xmlns:a="http://schemas.openxmlformats.org/drawingml/2006/main">
            <a:pPr>
              <a:defRPr sz="4200" b="1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2B43"/>
                </a:solidFill>
                <a:latin typeface="Arial"/>
                <a:ea typeface="Arial"/>
                <a:cs typeface="Arial"/>
              </a:rPr>
              <a:t>operations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964F6-407D-4F15-A50D-E8FE379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Independent case study using consolidated FY2024-FY2026 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D534B-58D3-40B0-8555-2F4C3E54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D64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D641E"/>
                </a:solidFill>
                <a:latin typeface="Arial"/>
                <a:ea typeface="Arial"/>
                <a:cs typeface="Arial"/>
              </a:rPr>
              <a:t>Hisham Siddiqui</a:t>
            </a:r>
          </a:p>
          <a:p xmlns:a="http://schemas.openxmlformats.org/drawingml/2006/main">
            <a:pPr>
              <a:defRPr sz="1875" b="0">
                <a:solidFill>
                  <a:srgbClr val="8D64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D641E"/>
                </a:solidFill>
                <a:latin typeface="Arial"/>
                <a:ea typeface="Arial"/>
                <a:cs typeface="Arial"/>
              </a:rPr>
              <a:t>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5224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1EE85-F319-4649-9E16-FC3D46E4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Revenue growth and operating margins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58EA3-EDB3-4055-A980-F47ED563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Source: consolidated annual reports. Operating EBITDA excludes all other income and exceptional gains.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61912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6b34ebbe8149f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DE2C-2068-4DA5-9CD4-46565D2F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INR crore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372350" y="1790700"/>
          <a:ext xmlns:a="http://schemas.openxmlformats.org/drawingml/2006/main" cx="4095750" cy="2266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38125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Operating margin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FY2024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3.94%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FY2025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3.88%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FY2026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3.82%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12F86-1C4A-4790-9A86-3943FD24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767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FY2026 revenue grew 25.8%.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Derived operating margin narrowed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from 3.94% in FY2024 to 3.82%.</a:t>
            </a:r>
          </a:p>
        </p:txBody>
      </p:sp>
    </p:spTree>
    <p:extLst>
      <p:ext uri="{BB962C8B-B14F-4D97-AF65-F5344CB8AC3E}">
        <p14:creationId xmlns:p14="http://schemas.microsoft.com/office/powerpoint/2010/main" val="1336060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AF367-17C1-4AF6-973F-F00128A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Operating cash flow and earnings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8C7D6-FF91-4258-9436-A1C45BF4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Sources: FY2026 report pp408-411, 458. FY2025 report pp322-325. INR crore unless stated otherwise.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2324100"/>
                <a:gridCol w="2324100"/>
                <a:gridCol w="23241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FY2024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FY2025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FY2026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Operating cash 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584.31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1,149.75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1,782.29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OCF / group PAT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1.56x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0.93x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1.08x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Cash after cash capex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-0.12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210.40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714.78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Total WC cash-flow effect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-8.81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-181.62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223.33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BEA59-A7CC-45F0-AC10-CB1B28F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FY2026 OCF increased 55.0%, with an INR 223.33 crore working-capital inflow.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E3F74-9A35-48F6-9982-3B8F4EF3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FY2025 exceptional gains and FY2026 investment gains affect reported profit.</a:t>
            </a:r>
          </a:p>
          <a:p xmlns:a="http://schemas.openxmlformats.org/drawingml/2006/main">
            <a:pPr>
              <a:defRPr sz="187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Operating measures and the cash-flow statement provide necessary context.</a:t>
            </a:r>
          </a:p>
        </p:txBody>
      </p:sp>
    </p:spTree>
    <p:extLst>
      <p:ext uri="{BB962C8B-B14F-4D97-AF65-F5344CB8AC3E}">
        <p14:creationId xmlns:p14="http://schemas.microsoft.com/office/powerpoint/2010/main" val="910428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ADBD-77C7-4CA0-95E8-71582BE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Cash sensitivity to five-day operational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FB636-5409-4E07-A080-4038B4F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Illustrative isolated scenarios at FY2026 annual volumes. Even activity and unchanged prices assumed.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23900" y="1666875"/>
          <a:ext xmlns:a="http://schemas.openxmlformats.org/drawingml/2006/main" cx="10572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346e77680b441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5C680-2D3A-4AC7-B1B6-74B71DA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Additional cash required, INR crore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8471D-DE80-4639-B7FF-553D2D0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Each isolated change equals roughly 81-87% of reported closing cash.</a:t>
            </a:r>
          </a:p>
          <a:p xmlns:a="http://schemas.openxmlformats.org/drawingml/2006/main">
            <a:pPr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This compares scale. It does not establish a funding shortfall.</a:t>
            </a:r>
          </a:p>
        </p:txBody>
      </p:sp>
    </p:spTree>
    <p:extLst>
      <p:ext uri="{BB962C8B-B14F-4D97-AF65-F5344CB8AC3E}">
        <p14:creationId xmlns:p14="http://schemas.microsoft.com/office/powerpoint/2010/main" val="94409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A6BE5-8F26-4FB1-8F20-8533D1F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Collections pilot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529D1-31FB-43D5-8E46-77B148D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All pilot inputs are analyst assumptions. Cash release is excluded from ROI. Benefits and costs are pre-tax.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5257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0900"/>
                <a:gridCol w="1866900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Assumption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Annual sales covered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Collection improvement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5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Financed share /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50% / 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Setup / annual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INR 25L / INR 12L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Year 1 benefit realisation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mlns:a="http://schemas.openxmlformats.org/drawingml/2006/main" x="6229350" y="1638300"/>
          <a:ext xmlns:a="http://schemas.openxmlformats.org/drawingml/2006/main" cx="535305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2066925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Modelled outcome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One-time cash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INR 13.39cr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Year 1 net benefit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(INR 3.53L)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24-month net benefit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INR 51.42L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Payback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12.77 months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24-month project ROI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104.9%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9723A-A4EB-419F-84E7-F880906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24-month break-even requires 24.4% of released cash to replace borrowing</a:t>
            </a:r>
          </a:p>
          <a:p xmlns:a="http://schemas.openxmlformats.org/drawingml/2006/main">
            <a:pPr>
              <a:defRPr sz="195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at the assumed rate. With no financing displacement, savings are zero.</a:t>
            </a:r>
          </a:p>
        </p:txBody>
      </p:sp>
    </p:spTree>
    <p:extLst>
      <p:ext uri="{BB962C8B-B14F-4D97-AF65-F5344CB8AC3E}">
        <p14:creationId xmlns:p14="http://schemas.microsoft.com/office/powerpoint/2010/main" val="1468719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3E4B-DC59-4822-970B-07B93A4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Recommendation and evidence needed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4030F-68DC-45A0-B554-B5CE137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65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6578"/>
                </a:solidFill>
                <a:latin typeface="Arial"/>
                <a:ea typeface="Arial"/>
                <a:cs typeface="Arial"/>
              </a:rPr>
              <a:t>Proposed implementation. Public statements cannot establish invoice-level causes or realised savings.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33875"/>
                <a:gridCol w="501967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action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decision</a:t>
                      </a:r>
                    </a:p>
                  </a:txBody>
                  <a:tcPr marL="91440" marR="91440" marT="45720" marB="45720">
                    <a:solidFill>
                      <a:srgbClr val="20395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Weeks 1-2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Establish invoice and funding baselines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Due dates, payment dates, disputes and avoidable financing costs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Weeks 3-6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Test a limited collections 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Invoice completeness, dispute ownership and matched untreated 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Weeks 7-8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Evaluate results over collection cycles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Actual days saved, discounts, bad debts and borrowing displaced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Scale 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Approve expansion only on measured economics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2B43"/>
                          </a:solidFill>
                          <a:latin typeface="Arial"/>
                          <a:ea typeface="Arial"/>
                          <a:cs typeface="Arial"/>
                        </a:rPr>
                        <a:t>Verify costs and financing savings against an agreed return hurdle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5C80-52D6-4B79-B652-A98659E0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9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952"/>
                </a:solidFill>
                <a:latin typeface="Arial"/>
                <a:ea typeface="Arial"/>
                <a:cs typeface="Arial"/>
              </a:rPr>
              <a:t>A conditional pilot is justified only after invoice-level and funding validation.</a:t>
            </a:r>
          </a:p>
        </p:txBody>
      </p:sp>
    </p:spTree>
    <p:extLst>
      <p:ext uri="{BB962C8B-B14F-4D97-AF65-F5344CB8AC3E}">
        <p14:creationId xmlns:p14="http://schemas.microsoft.com/office/powerpoint/2010/main" val="1105019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2026-10-07T21:59:59.6400000Z</dcterms:created>
  <dcterms:modified xsi:type="dcterms:W3CDTF">2026-10-07T21:59:59.6400000Z</dcterms:modified>
</coreProperties>
</file>